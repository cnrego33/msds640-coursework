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DM Sans Medium"/>
      <p:regular r:id="rId40"/>
      <p:bold r:id="rId41"/>
      <p:italic r:id="rId42"/>
      <p:boldItalic r:id="rId43"/>
    </p:embeddedFont>
    <p:embeddedFont>
      <p:font typeface="Merriweather"/>
      <p:regular r:id="rId44"/>
      <p:bold r:id="rId45"/>
      <p:italic r:id="rId46"/>
      <p:boldItalic r:id="rId47"/>
    </p:embeddedFont>
    <p:embeddedFont>
      <p:font typeface="DM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ABB33E-2116-4D69-978C-8F15CCABEB94}">
  <a:tblStyle styleId="{0DABB33E-2116-4D69-978C-8F15CCABEB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Medium-regular.fntdata"/><Relationship Id="rId42" Type="http://schemas.openxmlformats.org/officeDocument/2006/relationships/font" Target="fonts/DMSansMedium-italic.fntdata"/><Relationship Id="rId41" Type="http://schemas.openxmlformats.org/officeDocument/2006/relationships/font" Target="fonts/DMSansMedium-bold.fntdata"/><Relationship Id="rId44" Type="http://schemas.openxmlformats.org/officeDocument/2006/relationships/font" Target="fonts/Merriweather-regular.fntdata"/><Relationship Id="rId43" Type="http://schemas.openxmlformats.org/officeDocument/2006/relationships/font" Target="fonts/DMSansMedium-boldItalic.fntdata"/><Relationship Id="rId46" Type="http://schemas.openxmlformats.org/officeDocument/2006/relationships/font" Target="fonts/Merriweather-italic.fntdata"/><Relationship Id="rId45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DMSans-regular.fntdata"/><Relationship Id="rId47" Type="http://schemas.openxmlformats.org/officeDocument/2006/relationships/font" Target="fonts/Merriweather-boldItalic.fntdata"/><Relationship Id="rId49" Type="http://schemas.openxmlformats.org/officeDocument/2006/relationships/font" Target="fonts/DM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DMSans-boldItalic.fntdata"/><Relationship Id="rId50" Type="http://schemas.openxmlformats.org/officeDocument/2006/relationships/font" Target="fonts/DM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652d911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652d911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652d9110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652d9110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652d9110c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f652d9110c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652d9110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652d9110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652d9110c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652d9110c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652d9110c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652d9110c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652d9110c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652d9110c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652d9110c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652d9110c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652d9110c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f652d9110c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652d9110c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652d9110c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652d9110c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652d9110c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652d9110c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652d9110c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652d9110c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f652d9110c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652d9110c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652d9110c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652d9110c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f652d9110c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652d9110c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652d9110c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652d9110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652d9110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652d9110c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652d9110c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652d9110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f652d9110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652d9110c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f652d9110c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652d9110c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f652d9110c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652d9110c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f652d9110c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652d9110c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f652d9110c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652d9110c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f652d9110c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652d9110c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f652d9110c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652d9110c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f652d9110c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652d9110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f652d9110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652d9110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f652d9110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652d9110c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f652d9110c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652d9110c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f652d9110c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f652d9110c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f652d9110c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652d9110c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f652d9110c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652d9110c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f652d9110c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3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36" name="Google Shape;136;p23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4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1" name="Google Shape;141;p24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2" name="Google Shape;142;p24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3" name="Google Shape;143;p24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5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6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54" name="Google Shape;154;p26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26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7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1" name="Google Shape;161;p27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8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8" name="Google Shape;168;p28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77" name="Google Shape;177;p29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1" name="Google Shape;181;p30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2" name="Google Shape;182;p30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3" name="Google Shape;183;p30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4" name="Google Shape;184;p30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5" name="Google Shape;185;p30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6" name="Google Shape;186;p30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7" name="Google Shape;187;p30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4" name="Google Shape;194;p30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5" name="Google Shape;195;p30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9" name="Google Shape;199;p30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0" name="Google Shape;200;p30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1" name="Google Shape;201;p30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2" name="Google Shape;202;p30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3" name="Google Shape;203;p30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4" name="Google Shape;204;p30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5" name="Google Shape;205;p30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6" name="Google Shape;206;p30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7" name="Google Shape;207;p30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8" name="Google Shape;208;p30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31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xplorer.audubon.org/explore/species/1585/semipalmated-sandpiper/migration?sidebar=collapse&amp;zoom=4&amp;x=2355319.541936123&amp;y=2529334.3136620773&amp;range=0.6849%2C0.7049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Semipalmated Sandpiper US Atlantic Coast Migration Stopover Site Analysis</a:t>
            </a:r>
            <a:endParaRPr sz="3500"/>
          </a:p>
        </p:txBody>
      </p:sp>
      <p:sp>
        <p:nvSpPr>
          <p:cNvPr id="218" name="Google Shape;218;p32"/>
          <p:cNvSpPr txBox="1"/>
          <p:nvPr>
            <p:ph idx="2" type="subTitle"/>
          </p:nvPr>
        </p:nvSpPr>
        <p:spPr>
          <a:xfrm>
            <a:off x="4650450" y="1415425"/>
            <a:ext cx="43707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Semipalmated Sandpiper (SESA)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50"/>
              <a:t>Calidris pusilla </a:t>
            </a:r>
            <a:endParaRPr i="1" sz="1650"/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196949" y="4737750"/>
            <a:ext cx="39867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Carissa Rego 		Bryant University 		MSDS640 Capstone 	</a:t>
            </a:r>
            <a:endParaRPr/>
          </a:p>
        </p:txBody>
      </p:sp>
      <p:pic>
        <p:nvPicPr>
          <p:cNvPr id="220" name="Google Shape;22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9800" y="2332250"/>
            <a:ext cx="4941351" cy="26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 rotWithShape="1">
          <a:blip r:embed="rId4">
            <a:alphaModFix/>
          </a:blip>
          <a:srcRect b="0" l="0" r="0" t="10714"/>
          <a:stretch/>
        </p:blipFill>
        <p:spPr>
          <a:xfrm>
            <a:off x="126575" y="2058775"/>
            <a:ext cx="3823575" cy="22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28" name="Google Shape;228;p33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Background and Motivation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516423" y="1584300"/>
            <a:ext cx="8504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Data and Methods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Discussion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516437" y="4102806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4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44" name="Google Shape;244;p34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Background and Motivation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5" name="Google Shape;245;p34"/>
          <p:cNvSpPr txBox="1"/>
          <p:nvPr/>
        </p:nvSpPr>
        <p:spPr>
          <a:xfrm>
            <a:off x="516423" y="1584300"/>
            <a:ext cx="8504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Data and Methods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7" name="Google Shape;247;p34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Discussion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516437" y="4102806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0" name="Google Shape;250;p34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2" name="Google Shape;252;p34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3" name="Google Shape;253;p34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35"/>
          <p:cNvSpPr txBox="1"/>
          <p:nvPr>
            <p:ph idx="1" type="subTitle"/>
          </p:nvPr>
        </p:nvSpPr>
        <p:spPr>
          <a:xfrm>
            <a:off x="1073125" y="329825"/>
            <a:ext cx="71934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Semipalmated Sandpiper (SESA)</a:t>
            </a:r>
            <a:endParaRPr>
              <a:solidFill>
                <a:srgbClr val="7F6000"/>
              </a:solidFill>
            </a:endParaRPr>
          </a:p>
        </p:txBody>
      </p:sp>
      <p:pic>
        <p:nvPicPr>
          <p:cNvPr id="260" name="Google Shape;2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681" y="922325"/>
            <a:ext cx="3319344" cy="4134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70650"/>
            <a:ext cx="5623451" cy="18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700" y="1301763"/>
            <a:ext cx="485775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5"/>
          <p:cNvPicPr preferRelativeResize="0"/>
          <p:nvPr/>
        </p:nvPicPr>
        <p:blipFill rotWithShape="1">
          <a:blip r:embed="rId6">
            <a:alphaModFix/>
          </a:blip>
          <a:srcRect b="0" l="5615" r="28630" t="0"/>
          <a:stretch/>
        </p:blipFill>
        <p:spPr>
          <a:xfrm>
            <a:off x="0" y="0"/>
            <a:ext cx="1536414" cy="123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6"/>
          <p:cNvSpPr txBox="1"/>
          <p:nvPr>
            <p:ph idx="1" type="subTitle"/>
          </p:nvPr>
        </p:nvSpPr>
        <p:spPr>
          <a:xfrm>
            <a:off x="394325" y="1236500"/>
            <a:ext cx="8229600" cy="323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Stopover sites along the US Atlantic Coast are essential to the success of migration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Threats to these stopover sites include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Habitat loss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Land cover changes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Coastal development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There are a limited number of studies done using quantitative models to predict stopover site usage using citizen science data (ebird)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Benefits: conservation scientists, coastal land use planners, wildlife managers, government agencies (state and federal) </a:t>
            </a:r>
            <a:endParaRPr sz="1800"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1073125" y="329825"/>
            <a:ext cx="71934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and Motivation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Semipalmated Sandpiper - Migration | Bird Migration Explorer</a:t>
            </a:r>
            <a:r>
              <a:rPr lang="en" sz="1100">
                <a:solidFill>
                  <a:srgbClr val="7F6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rgbClr val="7F6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37"/>
          <p:cNvSpPr txBox="1"/>
          <p:nvPr>
            <p:ph idx="1" type="subTitle"/>
          </p:nvPr>
        </p:nvSpPr>
        <p:spPr>
          <a:xfrm>
            <a:off x="457200" y="1141500"/>
            <a:ext cx="8229600" cy="40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Research Questions 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What habitat and land cover characteristics predict SESA stopover site usage?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Have detection rates at stopover sites changed over time?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Hypothesis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SESA stopover site usage is predictable using land cover characteristics (particularly the presence of coastal wetland habitats).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Sites that have experienced habitat degradation between the years 2001-2025 will be less likely to be used as stopover sites and therefore will have a lower chance of SESA being present.</a:t>
            </a:r>
            <a:endParaRPr sz="1800"/>
          </a:p>
        </p:txBody>
      </p:sp>
      <p:sp>
        <p:nvSpPr>
          <p:cNvPr id="277" name="Google Shape;277;p37"/>
          <p:cNvSpPr txBox="1"/>
          <p:nvPr>
            <p:ph idx="1" type="subTitle"/>
          </p:nvPr>
        </p:nvSpPr>
        <p:spPr>
          <a:xfrm>
            <a:off x="1073125" y="455550"/>
            <a:ext cx="71934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Research Question and Hypothesis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38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Background and Motivation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516423" y="1584300"/>
            <a:ext cx="8504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Data and Methods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5" name="Google Shape;285;p38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6" name="Google Shape;286;p38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Discussion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7" name="Google Shape;287;p38"/>
          <p:cNvSpPr txBox="1"/>
          <p:nvPr/>
        </p:nvSpPr>
        <p:spPr>
          <a:xfrm>
            <a:off x="516437" y="4102806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8" name="Google Shape;288;p38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0" name="Google Shape;290;p38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1" name="Google Shape;291;p38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2" name="Google Shape;292;p38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39"/>
          <p:cNvSpPr txBox="1"/>
          <p:nvPr>
            <p:ph idx="1" type="subTitle"/>
          </p:nvPr>
        </p:nvSpPr>
        <p:spPr>
          <a:xfrm>
            <a:off x="196950" y="590325"/>
            <a:ext cx="2894700" cy="461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Data Source: eBird, Cornell Lab of Ornithology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~12 million total checklists, ~6 million complete checklists 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Study Area: 10 US Atlantic Coast States </a:t>
            </a:r>
            <a:endParaRPr sz="13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/>
              <a:t>Connecticut, Delaware, Maine, Maryland, Massachusetts, New Hampshire, New Jersey, New York, Rhode Island, and Virginia. 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Study Time Range: May-September 2001-2024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Final Dataset: 1,495 total locations (499 presence, 996 absence)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Checklist-based absence approach - true absences obtain from completed checklists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99" name="Google Shape;299;p39"/>
          <p:cNvSpPr txBox="1"/>
          <p:nvPr>
            <p:ph idx="1" type="subTitle"/>
          </p:nvPr>
        </p:nvSpPr>
        <p:spPr>
          <a:xfrm>
            <a:off x="1099200" y="81950"/>
            <a:ext cx="71934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Data Overview</a:t>
            </a:r>
            <a:endParaRPr/>
          </a:p>
        </p:txBody>
      </p:sp>
      <p:pic>
        <p:nvPicPr>
          <p:cNvPr id="300" name="Google Shape;300;p39" title="1_SESA_Detections_Map.png"/>
          <p:cNvPicPr preferRelativeResize="0"/>
          <p:nvPr/>
        </p:nvPicPr>
        <p:blipFill rotWithShape="1">
          <a:blip r:embed="rId3">
            <a:alphaModFix/>
          </a:blip>
          <a:srcRect b="16703" l="0" r="0" t="17120"/>
          <a:stretch/>
        </p:blipFill>
        <p:spPr>
          <a:xfrm>
            <a:off x="3531365" y="739362"/>
            <a:ext cx="5220462" cy="431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40"/>
          <p:cNvSpPr txBox="1"/>
          <p:nvPr>
            <p:ph idx="1" type="subTitle"/>
          </p:nvPr>
        </p:nvSpPr>
        <p:spPr>
          <a:xfrm>
            <a:off x="394325" y="1236500"/>
            <a:ext cx="3985200" cy="409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/>
              <a:t>Predictor Variables:</a:t>
            </a:r>
            <a:endParaRPr sz="18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NLCD land cover classes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Removed shrub scrub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Elevation (elevatr)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Distance to Coastline (NaturalEarth)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Climate data (NASA POWER)</a:t>
            </a:r>
            <a:endParaRPr sz="1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Wind speed </a:t>
            </a:r>
            <a:endParaRPr sz="1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Temperature</a:t>
            </a:r>
            <a:r>
              <a:rPr lang="en" sz="1600"/>
              <a:t> </a:t>
            </a:r>
            <a:endParaRPr sz="1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Precipitation 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7" name="Google Shape;307;p40"/>
          <p:cNvSpPr txBox="1"/>
          <p:nvPr>
            <p:ph idx="1" type="subTitle"/>
          </p:nvPr>
        </p:nvSpPr>
        <p:spPr>
          <a:xfrm>
            <a:off x="912425" y="405825"/>
            <a:ext cx="74385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Predictor Variables and Feature Engineering</a:t>
            </a:r>
            <a:endParaRPr/>
          </a:p>
        </p:txBody>
      </p:sp>
      <p:sp>
        <p:nvSpPr>
          <p:cNvPr id="308" name="Google Shape;308;p40"/>
          <p:cNvSpPr txBox="1"/>
          <p:nvPr>
            <p:ph idx="1" type="subTitle"/>
          </p:nvPr>
        </p:nvSpPr>
        <p:spPr>
          <a:xfrm>
            <a:off x="4572000" y="1236500"/>
            <a:ext cx="4081500" cy="304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/>
              <a:t>Engineered Features:</a:t>
            </a:r>
            <a:endParaRPr sz="18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Land cover changed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Habitat degraded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Habitat improved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4" name="Google Shape;314;p41"/>
          <p:cNvSpPr txBox="1"/>
          <p:nvPr>
            <p:ph idx="1" type="subTitle"/>
          </p:nvPr>
        </p:nvSpPr>
        <p:spPr>
          <a:xfrm>
            <a:off x="394325" y="1236500"/>
            <a:ext cx="7438500" cy="40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Land cover at presence sites is dominated by four classes </a:t>
            </a:r>
            <a:endParaRPr sz="18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Developed low intensity </a:t>
            </a:r>
            <a:endParaRPr sz="1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Emergent herbaceous wetlands </a:t>
            </a:r>
            <a:endParaRPr sz="1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Open water </a:t>
            </a:r>
            <a:endParaRPr sz="1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Developed open space </a:t>
            </a:r>
            <a:endParaRPr sz="1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13.1% of sites experienced land cover change  from 2001-2025</a:t>
            </a:r>
            <a:endParaRPr sz="18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No severe </a:t>
            </a:r>
            <a:r>
              <a:rPr lang="en" sz="1800"/>
              <a:t>multicollinearity</a:t>
            </a:r>
            <a:r>
              <a:rPr lang="en" sz="1800"/>
              <a:t> </a:t>
            </a:r>
            <a:endParaRPr sz="1800"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features</a:t>
            </a:r>
            <a:r>
              <a:rPr lang="en" sz="1800"/>
              <a:t> from 2001 were removed after creating habitat change columns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5" name="Google Shape;315;p41"/>
          <p:cNvSpPr txBox="1"/>
          <p:nvPr>
            <p:ph idx="1" type="subTitle"/>
          </p:nvPr>
        </p:nvSpPr>
        <p:spPr>
          <a:xfrm>
            <a:off x="912425" y="405825"/>
            <a:ext cx="74385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EDA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2"/>
          <p:cNvSpPr txBox="1"/>
          <p:nvPr>
            <p:ph idx="1" type="subTitle"/>
          </p:nvPr>
        </p:nvSpPr>
        <p:spPr>
          <a:xfrm>
            <a:off x="903725" y="196450"/>
            <a:ext cx="74385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EDA</a:t>
            </a:r>
            <a:endParaRPr/>
          </a:p>
        </p:txBody>
      </p:sp>
      <p:pic>
        <p:nvPicPr>
          <p:cNvPr id="322" name="Google Shape;32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834175"/>
            <a:ext cx="4005500" cy="4182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950" y="834175"/>
            <a:ext cx="4127090" cy="430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43"/>
          <p:cNvSpPr txBox="1"/>
          <p:nvPr>
            <p:ph idx="1" type="subTitle"/>
          </p:nvPr>
        </p:nvSpPr>
        <p:spPr>
          <a:xfrm>
            <a:off x="53425" y="53825"/>
            <a:ext cx="13116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EDA</a:t>
            </a:r>
            <a:endParaRPr/>
          </a:p>
        </p:txBody>
      </p:sp>
      <p:pic>
        <p:nvPicPr>
          <p:cNvPr id="330" name="Google Shape;330;p43" title="correlation_heatmap.jpg"/>
          <p:cNvPicPr preferRelativeResize="0"/>
          <p:nvPr/>
        </p:nvPicPr>
        <p:blipFill rotWithShape="1">
          <a:blip r:embed="rId3">
            <a:alphaModFix/>
          </a:blip>
          <a:srcRect b="3377" l="12687" r="0" t="5846"/>
          <a:stretch/>
        </p:blipFill>
        <p:spPr>
          <a:xfrm>
            <a:off x="1399800" y="123075"/>
            <a:ext cx="6834376" cy="493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44"/>
          <p:cNvSpPr txBox="1"/>
          <p:nvPr>
            <p:ph idx="1" type="subTitle"/>
          </p:nvPr>
        </p:nvSpPr>
        <p:spPr>
          <a:xfrm>
            <a:off x="881413" y="136500"/>
            <a:ext cx="74385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Methodology Pipeline</a:t>
            </a:r>
            <a:endParaRPr/>
          </a:p>
        </p:txBody>
      </p:sp>
      <p:pic>
        <p:nvPicPr>
          <p:cNvPr id="337" name="Google Shape;337;p44"/>
          <p:cNvPicPr preferRelativeResize="0"/>
          <p:nvPr/>
        </p:nvPicPr>
        <p:blipFill rotWithShape="1">
          <a:blip r:embed="rId3">
            <a:alphaModFix/>
          </a:blip>
          <a:srcRect b="9" l="0" r="0" t="8825"/>
          <a:stretch/>
        </p:blipFill>
        <p:spPr>
          <a:xfrm>
            <a:off x="313625" y="879450"/>
            <a:ext cx="8533274" cy="420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3" name="Google Shape;343;p45"/>
          <p:cNvSpPr txBox="1"/>
          <p:nvPr>
            <p:ph idx="1" type="subTitle"/>
          </p:nvPr>
        </p:nvSpPr>
        <p:spPr>
          <a:xfrm>
            <a:off x="394325" y="1236500"/>
            <a:ext cx="7438500" cy="38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Two Models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Baseline: Logistic Regression (LR)</a:t>
            </a:r>
            <a:endParaRPr sz="18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Threshold </a:t>
            </a:r>
            <a:r>
              <a:rPr lang="en" sz="1700"/>
              <a:t>adjusted</a:t>
            </a:r>
            <a:r>
              <a:rPr lang="en" sz="1700"/>
              <a:t> from 0.5 to 0.4 to increase recall</a:t>
            </a:r>
            <a:endParaRPr sz="17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Improved: Boosted Regression Trees (BRT)</a:t>
            </a:r>
            <a:endParaRPr sz="18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882 optimal trees, learning rate = 0.01, interaction depth = 5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70/30 train test split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set.seed(42)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5-fold CV for both models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4" name="Google Shape;344;p45"/>
          <p:cNvSpPr txBox="1"/>
          <p:nvPr>
            <p:ph idx="1" type="subTitle"/>
          </p:nvPr>
        </p:nvSpPr>
        <p:spPr>
          <a:xfrm>
            <a:off x="912425" y="405825"/>
            <a:ext cx="74385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Methodology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46"/>
          <p:cNvSpPr txBox="1"/>
          <p:nvPr>
            <p:ph idx="1" type="subTitle"/>
          </p:nvPr>
        </p:nvSpPr>
        <p:spPr>
          <a:xfrm>
            <a:off x="419650" y="919875"/>
            <a:ext cx="8052900" cy="33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Naive Baseline: majority class classifier (absences), 66.7% accuracy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AUC-ROC was the primary metric used to evaluate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It is robust to class imbalance and is not contingent on the threshold set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Secondary evaluation metrics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Accuracy, precision, recall, F1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Delong’s test was used for statistical analysis of both models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1" name="Google Shape;351;p46"/>
          <p:cNvSpPr txBox="1"/>
          <p:nvPr>
            <p:ph idx="1" type="subTitle"/>
          </p:nvPr>
        </p:nvSpPr>
        <p:spPr>
          <a:xfrm>
            <a:off x="912425" y="405825"/>
            <a:ext cx="74385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Methodology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7" name="Google Shape;357;p47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Background and Motivation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58" name="Google Shape;358;p47"/>
          <p:cNvSpPr txBox="1"/>
          <p:nvPr/>
        </p:nvSpPr>
        <p:spPr>
          <a:xfrm>
            <a:off x="516423" y="1584300"/>
            <a:ext cx="8504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Data and Methods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59" name="Google Shape;359;p47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60" name="Google Shape;360;p47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Discussion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61" name="Google Shape;361;p47"/>
          <p:cNvSpPr txBox="1"/>
          <p:nvPr/>
        </p:nvSpPr>
        <p:spPr>
          <a:xfrm>
            <a:off x="516437" y="4102806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62" name="Google Shape;362;p47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63" name="Google Shape;363;p47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64" name="Google Shape;364;p47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65" name="Google Shape;365;p47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66" name="Google Shape;366;p47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48"/>
          <p:cNvSpPr txBox="1"/>
          <p:nvPr>
            <p:ph idx="1" type="subTitle"/>
          </p:nvPr>
        </p:nvSpPr>
        <p:spPr>
          <a:xfrm>
            <a:off x="394325" y="1048050"/>
            <a:ext cx="7774500" cy="5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50"/>
              <a:t>N</a:t>
            </a:r>
            <a:r>
              <a:rPr lang="en" sz="2050"/>
              <a:t>aive Baseline:		</a:t>
            </a:r>
            <a:r>
              <a:rPr lang="en" sz="1850"/>
              <a:t>AUC: 0.500			Accuracy: 65.7%</a:t>
            </a:r>
            <a:endParaRPr sz="1850"/>
          </a:p>
        </p:txBody>
      </p:sp>
      <p:sp>
        <p:nvSpPr>
          <p:cNvPr id="373" name="Google Shape;373;p48"/>
          <p:cNvSpPr txBox="1"/>
          <p:nvPr>
            <p:ph idx="1" type="subTitle"/>
          </p:nvPr>
        </p:nvSpPr>
        <p:spPr>
          <a:xfrm>
            <a:off x="893400" y="196450"/>
            <a:ext cx="71934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Model Results</a:t>
            </a:r>
            <a:endParaRPr/>
          </a:p>
        </p:txBody>
      </p:sp>
      <p:graphicFrame>
        <p:nvGraphicFramePr>
          <p:cNvPr id="374" name="Google Shape;374;p48"/>
          <p:cNvGraphicFramePr/>
          <p:nvPr/>
        </p:nvGraphicFramePr>
        <p:xfrm>
          <a:off x="870600" y="183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{0DABB33E-2116-4D69-978C-8F15CCABEB94}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Metric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Logistic Regression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Boosted Regression Trees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AUC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0.783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0.819</a:t>
                      </a:r>
                      <a:endParaRPr b="1"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CV AUC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0.777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0.803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Accuracy 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73.1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76.6</a:t>
                      </a:r>
                      <a:endParaRPr b="1"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Precision 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0.600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0.706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Recall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0.643</a:t>
                      </a:r>
                      <a:endParaRPr b="1"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0.545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F1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0.621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0.615</a:t>
                      </a:r>
                      <a:endParaRPr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9"/>
          <p:cNvSpPr txBox="1"/>
          <p:nvPr>
            <p:ph idx="1" type="subTitle"/>
          </p:nvPr>
        </p:nvSpPr>
        <p:spPr>
          <a:xfrm>
            <a:off x="893400" y="196450"/>
            <a:ext cx="71934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Model Results</a:t>
            </a:r>
            <a:endParaRPr/>
          </a:p>
        </p:txBody>
      </p:sp>
      <p:pic>
        <p:nvPicPr>
          <p:cNvPr id="381" name="Google Shape;38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9" y="941350"/>
            <a:ext cx="4227051" cy="391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9219" y="941350"/>
            <a:ext cx="4641700" cy="3910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 Curve Comparison </a:t>
            </a:r>
            <a:endParaRPr/>
          </a:p>
        </p:txBody>
      </p:sp>
      <p:sp>
        <p:nvSpPr>
          <p:cNvPr id="388" name="Google Shape;388;p5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/>
              <a:t>Visualizing Logistic Regression and Boosted Regression Trees against the naive baseline </a:t>
            </a:r>
            <a:endParaRPr/>
          </a:p>
        </p:txBody>
      </p:sp>
      <p:pic>
        <p:nvPicPr>
          <p:cNvPr id="389" name="Google Shape;38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2925" y="114200"/>
            <a:ext cx="4628490" cy="48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51"/>
          <p:cNvSpPr txBox="1"/>
          <p:nvPr>
            <p:ph idx="1" type="subTitle"/>
          </p:nvPr>
        </p:nvSpPr>
        <p:spPr>
          <a:xfrm>
            <a:off x="852750" y="719525"/>
            <a:ext cx="7438500" cy="430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Delong’s Test showed BRT significantly outperformed LR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Z = -2.67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p</a:t>
            </a:r>
            <a:r>
              <a:rPr lang="en" sz="1800"/>
              <a:t> = 0.008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95% CI for AUC difference: -0.063 to -0.010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Supports BRT outperforming LR (negative values)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CV AUC close to test AUC for both LR and BRT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LR CV AUC: 0.777 </a:t>
            </a:r>
            <a:r>
              <a:rPr lang="en" sz="1800" u="sng"/>
              <a:t>+</a:t>
            </a:r>
            <a:r>
              <a:rPr lang="en" sz="1800"/>
              <a:t> 0.030 across 5 folds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BRT CV AUC: 0.803 </a:t>
            </a:r>
            <a:r>
              <a:rPr lang="en" sz="1800" u="sng"/>
              <a:t>+</a:t>
            </a:r>
            <a:r>
              <a:rPr lang="en" sz="1800"/>
              <a:t> 0.027 across 5 folds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No overfitting </a:t>
            </a:r>
            <a:endParaRPr sz="1800"/>
          </a:p>
        </p:txBody>
      </p:sp>
      <p:sp>
        <p:nvSpPr>
          <p:cNvPr id="396" name="Google Shape;396;p51"/>
          <p:cNvSpPr txBox="1"/>
          <p:nvPr>
            <p:ph idx="1" type="subTitle"/>
          </p:nvPr>
        </p:nvSpPr>
        <p:spPr>
          <a:xfrm>
            <a:off x="912425" y="196450"/>
            <a:ext cx="74385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Statistical Analysis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2" name="Google Shape;402;p52"/>
          <p:cNvSpPr txBox="1"/>
          <p:nvPr>
            <p:ph idx="1" type="subTitle"/>
          </p:nvPr>
        </p:nvSpPr>
        <p:spPr>
          <a:xfrm>
            <a:off x="912425" y="114175"/>
            <a:ext cx="74385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Learning Curve Comparison</a:t>
            </a:r>
            <a:endParaRPr/>
          </a:p>
        </p:txBody>
      </p:sp>
      <p:pic>
        <p:nvPicPr>
          <p:cNvPr id="403" name="Google Shape;40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6675"/>
            <a:ext cx="4092399" cy="427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5075" y="706674"/>
            <a:ext cx="4092400" cy="427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53"/>
          <p:cNvSpPr txBox="1"/>
          <p:nvPr>
            <p:ph idx="1" type="subTitle"/>
          </p:nvPr>
        </p:nvSpPr>
        <p:spPr>
          <a:xfrm>
            <a:off x="0" y="405825"/>
            <a:ext cx="3659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Feature Importance</a:t>
            </a:r>
            <a:endParaRPr/>
          </a:p>
        </p:txBody>
      </p:sp>
      <p:pic>
        <p:nvPicPr>
          <p:cNvPr id="411" name="Google Shape;41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9685" y="196450"/>
            <a:ext cx="4062764" cy="486037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3"/>
          <p:cNvSpPr txBox="1"/>
          <p:nvPr>
            <p:ph idx="1" type="subTitle"/>
          </p:nvPr>
        </p:nvSpPr>
        <p:spPr>
          <a:xfrm>
            <a:off x="394325" y="1236500"/>
            <a:ext cx="3889500" cy="40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50% of the model influence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Elevation: 24.97%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Distance to coast: 23.97%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Temperature: ~15%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Emergent herbaceous wetlands land cover class: 5.77%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Top land </a:t>
            </a:r>
            <a:r>
              <a:rPr lang="en" sz="1800"/>
              <a:t>cover</a:t>
            </a:r>
            <a:r>
              <a:rPr lang="en" sz="1800"/>
              <a:t> </a:t>
            </a:r>
            <a:r>
              <a:rPr lang="en" sz="1800"/>
              <a:t>predictor</a:t>
            </a:r>
            <a:r>
              <a:rPr lang="en" sz="1800"/>
              <a:t>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54"/>
          <p:cNvSpPr txBox="1"/>
          <p:nvPr>
            <p:ph idx="1" type="subTitle"/>
          </p:nvPr>
        </p:nvSpPr>
        <p:spPr>
          <a:xfrm>
            <a:off x="0" y="405825"/>
            <a:ext cx="3659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Temporal Analysis</a:t>
            </a:r>
            <a:endParaRPr/>
          </a:p>
        </p:txBody>
      </p:sp>
      <p:sp>
        <p:nvSpPr>
          <p:cNvPr id="419" name="Google Shape;419;p54"/>
          <p:cNvSpPr txBox="1"/>
          <p:nvPr>
            <p:ph idx="1" type="subTitle"/>
          </p:nvPr>
        </p:nvSpPr>
        <p:spPr>
          <a:xfrm>
            <a:off x="394325" y="1236500"/>
            <a:ext cx="3889500" cy="458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Overall detection rate was stable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1 significantly declining site: L455080, Rhode Island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Slope = -0.036 / year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p</a:t>
            </a:r>
            <a:r>
              <a:rPr lang="en" sz="1800"/>
              <a:t> = 3.28e-08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R</a:t>
            </a:r>
            <a:r>
              <a:rPr baseline="30000" lang="en" sz="1800"/>
              <a:t>2</a:t>
            </a:r>
            <a:r>
              <a:rPr lang="en" sz="1800"/>
              <a:t> = 0.911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No habitat </a:t>
            </a:r>
            <a:r>
              <a:rPr lang="en" sz="1800"/>
              <a:t>degradation</a:t>
            </a:r>
            <a:r>
              <a:rPr lang="en" sz="1800"/>
              <a:t>, decline is not </a:t>
            </a:r>
            <a:r>
              <a:rPr lang="en" sz="1800"/>
              <a:t>explained</a:t>
            </a:r>
            <a:r>
              <a:rPr lang="en" sz="1800"/>
              <a:t> by land cover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420" name="Google Shape;42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825" y="97824"/>
            <a:ext cx="4737325" cy="4849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55"/>
          <p:cNvSpPr txBox="1"/>
          <p:nvPr>
            <p:ph idx="1" type="subTitle"/>
          </p:nvPr>
        </p:nvSpPr>
        <p:spPr>
          <a:xfrm>
            <a:off x="0" y="405825"/>
            <a:ext cx="3659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Temporal Analysis</a:t>
            </a:r>
            <a:endParaRPr/>
          </a:p>
        </p:txBody>
      </p:sp>
      <p:sp>
        <p:nvSpPr>
          <p:cNvPr id="427" name="Google Shape;427;p55"/>
          <p:cNvSpPr txBox="1"/>
          <p:nvPr>
            <p:ph idx="1" type="subTitle"/>
          </p:nvPr>
        </p:nvSpPr>
        <p:spPr>
          <a:xfrm>
            <a:off x="394325" y="1236500"/>
            <a:ext cx="3889500" cy="37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1 significantly declining site: L455080, Rhode Island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Slope = -0.036 / year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p = 3.28e-08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R</a:t>
            </a:r>
            <a:r>
              <a:rPr baseline="30000" lang="en" sz="1800"/>
              <a:t>2</a:t>
            </a:r>
            <a:r>
              <a:rPr lang="en" sz="1800"/>
              <a:t> = 0.911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No habitat degradation, decline is not explained by land cover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428" name="Google Shape;42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96450"/>
            <a:ext cx="4449150" cy="47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4" name="Google Shape;434;p56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Background and Motivation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5" name="Google Shape;435;p56"/>
          <p:cNvSpPr txBox="1"/>
          <p:nvPr/>
        </p:nvSpPr>
        <p:spPr>
          <a:xfrm>
            <a:off x="516423" y="1584300"/>
            <a:ext cx="8504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Data and Methods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6" name="Google Shape;436;p56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7" name="Google Shape;437;p56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Discussion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8" name="Google Shape;438;p56"/>
          <p:cNvSpPr txBox="1"/>
          <p:nvPr/>
        </p:nvSpPr>
        <p:spPr>
          <a:xfrm>
            <a:off x="516437" y="4102806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9" name="Google Shape;439;p56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40" name="Google Shape;440;p56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41" name="Google Shape;441;p56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42" name="Google Shape;442;p56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43" name="Google Shape;443;p56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57"/>
          <p:cNvSpPr txBox="1"/>
          <p:nvPr>
            <p:ph idx="1" type="subTitle"/>
          </p:nvPr>
        </p:nvSpPr>
        <p:spPr>
          <a:xfrm>
            <a:off x="2593075" y="269350"/>
            <a:ext cx="3659700" cy="5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450" name="Google Shape;450;p57"/>
          <p:cNvSpPr txBox="1"/>
          <p:nvPr>
            <p:ph idx="1" type="subTitle"/>
          </p:nvPr>
        </p:nvSpPr>
        <p:spPr>
          <a:xfrm>
            <a:off x="436800" y="920375"/>
            <a:ext cx="8270400" cy="430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My hypothesis is partially supported by my findings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Wetland land cover predicts presence, but physical features dominate predictions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BRT captures nonlinear relationships that LR cannot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Overall population decline does not show up as declining detection rates in top 500 stopover sites. 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SESA are concentrated at the high quality sites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L455080 scenario </a:t>
            </a:r>
            <a:r>
              <a:rPr lang="en" sz="1800"/>
              <a:t>points</a:t>
            </a:r>
            <a:r>
              <a:rPr lang="en" sz="1800"/>
              <a:t> to the idea of outside factors causing detection decline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Human usage, food </a:t>
            </a:r>
            <a:r>
              <a:rPr lang="en" sz="1800"/>
              <a:t>availability</a:t>
            </a:r>
            <a:r>
              <a:rPr lang="en" sz="1800"/>
              <a:t>, predator presence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6" name="Google Shape;456;p58"/>
          <p:cNvSpPr txBox="1"/>
          <p:nvPr>
            <p:ph type="title"/>
          </p:nvPr>
        </p:nvSpPr>
        <p:spPr>
          <a:xfrm>
            <a:off x="83400" y="14090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Strengths and Limitations </a:t>
            </a:r>
            <a:endParaRPr/>
          </a:p>
        </p:txBody>
      </p:sp>
      <p:sp>
        <p:nvSpPr>
          <p:cNvPr id="457" name="Google Shape;457;p58"/>
          <p:cNvSpPr txBox="1"/>
          <p:nvPr>
            <p:ph idx="1" type="body"/>
          </p:nvPr>
        </p:nvSpPr>
        <p:spPr>
          <a:xfrm>
            <a:off x="4469125" y="405825"/>
            <a:ext cx="4477500" cy="44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 u="sng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Weaknesses: </a:t>
            </a:r>
            <a:endParaRPr sz="1400" u="sng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eBird data can be biased due to its 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citizen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science nature - areas that are more populated or easier to access by 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default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have more human 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presence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NLCD resolution may not capture fine scale habitat details 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Spatial autocorrelation was not formally tested 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BRT learning curves show that the model is potentially not fully converged, providing the model with more data may improve this 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58" name="Google Shape;458;p58"/>
          <p:cNvSpPr txBox="1"/>
          <p:nvPr>
            <p:ph idx="1" type="body"/>
          </p:nvPr>
        </p:nvSpPr>
        <p:spPr>
          <a:xfrm>
            <a:off x="197375" y="1856750"/>
            <a:ext cx="3765300" cy="30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 u="sng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Strengths:</a:t>
            </a:r>
            <a:endParaRPr sz="1400" u="sng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Checklist based absences are more ecologically valid </a:t>
            </a:r>
            <a:r>
              <a:rPr lang="en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than</a:t>
            </a:r>
            <a:r>
              <a:rPr lang="en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pseudo absences</a:t>
            </a:r>
            <a:endParaRPr sz="14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BRT captures nonlinear relationships not detectable by LR</a:t>
            </a:r>
            <a:endParaRPr sz="14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Open source and fully reproducible </a:t>
            </a:r>
            <a:endParaRPr sz="14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Highlights</a:t>
            </a:r>
            <a:r>
              <a:rPr lang="en" sz="1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 a species that is showing severe declining population trends  in recent years </a:t>
            </a:r>
            <a:endParaRPr sz="14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59"/>
          <p:cNvSpPr txBox="1"/>
          <p:nvPr>
            <p:ph type="title"/>
          </p:nvPr>
        </p:nvSpPr>
        <p:spPr>
          <a:xfrm>
            <a:off x="197375" y="963500"/>
            <a:ext cx="3800100" cy="172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Societal Impacts and Ethics </a:t>
            </a:r>
            <a:endParaRPr/>
          </a:p>
        </p:txBody>
      </p:sp>
      <p:sp>
        <p:nvSpPr>
          <p:cNvPr id="465" name="Google Shape;465;p59"/>
          <p:cNvSpPr txBox="1"/>
          <p:nvPr>
            <p:ph idx="1" type="body"/>
          </p:nvPr>
        </p:nvSpPr>
        <p:spPr>
          <a:xfrm>
            <a:off x="4469125" y="405825"/>
            <a:ext cx="4477500" cy="42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Due to model uncertainty conservation decisions 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should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be validated with field data 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There is the possibility the model could perform different depending on the areas of focus and 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the</a:t>
            </a: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data available 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The findings from this analysis can be used to evaluate areas that need conservation focus (expanding to &gt;500 sites will greater allow for this evaluation)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Citizen science data is collected by volunteers, not trained scientists, which opens it up to a variety of biases such as location and identification </a:t>
            </a:r>
            <a:endParaRPr sz="14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1" name="Google Shape;471;p60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Background and Motivation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72" name="Google Shape;472;p60"/>
          <p:cNvSpPr txBox="1"/>
          <p:nvPr/>
        </p:nvSpPr>
        <p:spPr>
          <a:xfrm>
            <a:off x="516423" y="1584300"/>
            <a:ext cx="8504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Data and Methods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73" name="Google Shape;473;p60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74" name="Google Shape;474;p60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Discussion</a:t>
            </a:r>
            <a:endParaRPr b="1" sz="36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75" name="Google Shape;475;p60"/>
          <p:cNvSpPr txBox="1"/>
          <p:nvPr/>
        </p:nvSpPr>
        <p:spPr>
          <a:xfrm>
            <a:off x="516437" y="4102806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76" name="Google Shape;476;p60"/>
          <p:cNvSpPr txBox="1"/>
          <p:nvPr/>
        </p:nvSpPr>
        <p:spPr>
          <a:xfrm>
            <a:off x="196954" y="744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77" name="Google Shape;477;p60"/>
          <p:cNvSpPr txBox="1"/>
          <p:nvPr/>
        </p:nvSpPr>
        <p:spPr>
          <a:xfrm>
            <a:off x="196954" y="1584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78" name="Google Shape;478;p60"/>
          <p:cNvSpPr txBox="1"/>
          <p:nvPr/>
        </p:nvSpPr>
        <p:spPr>
          <a:xfrm>
            <a:off x="196954" y="2423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79" name="Google Shape;479;p60"/>
          <p:cNvSpPr txBox="1"/>
          <p:nvPr/>
        </p:nvSpPr>
        <p:spPr>
          <a:xfrm>
            <a:off x="196954" y="3256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999999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rgbClr val="999999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80" name="Google Shape;480;p60"/>
          <p:cNvSpPr txBox="1"/>
          <p:nvPr/>
        </p:nvSpPr>
        <p:spPr>
          <a:xfrm>
            <a:off x="196954" y="4102806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5.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486" name="Google Shape;486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61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61"/>
          <p:cNvSpPr txBox="1"/>
          <p:nvPr>
            <p:ph idx="3" type="body"/>
          </p:nvPr>
        </p:nvSpPr>
        <p:spPr>
          <a:xfrm>
            <a:off x="4469125" y="405825"/>
            <a:ext cx="4477500" cy="42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My main goal was to test whether SESA stopover site usage could be predicted using land cover characteristics. </a:t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The short answer? Kind of </a:t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Wetland land cover is a very </a:t>
            </a: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important</a:t>
            </a: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 land cover characteristic, but no land cover characteristics are more </a:t>
            </a: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important</a:t>
            </a: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 than the physical geography of the site. </a:t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Elevation and how close a site is to the coast are two of the most important pieces of information to have when predicting site usage </a:t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2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494" name="Google Shape;494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62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6" name="Google Shape;496;p62"/>
          <p:cNvSpPr txBox="1"/>
          <p:nvPr>
            <p:ph idx="3" type="body"/>
          </p:nvPr>
        </p:nvSpPr>
        <p:spPr>
          <a:xfrm>
            <a:off x="4469125" y="405825"/>
            <a:ext cx="4477500" cy="42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Physical geography is more impactful in prediction than land cover </a:t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Citizen science data has its biases and limitations, but can be a useful tool for predictive modeling </a:t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High quality stopover sites may buffer against population level declines </a:t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3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 </a:t>
            </a:r>
            <a:endParaRPr/>
          </a:p>
        </p:txBody>
      </p:sp>
      <p:sp>
        <p:nvSpPr>
          <p:cNvPr id="502" name="Google Shape;502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63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63"/>
          <p:cNvSpPr txBox="1"/>
          <p:nvPr>
            <p:ph idx="3" type="body"/>
          </p:nvPr>
        </p:nvSpPr>
        <p:spPr>
          <a:xfrm>
            <a:off x="4469125" y="405825"/>
            <a:ext cx="4477500" cy="42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Integrating sea level rise (slr) scenarios would be very meaningful in </a:t>
            </a: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assessing</a:t>
            </a: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 habitat vulnerability </a:t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Occupancy modeling would aid in the biases that are </a:t>
            </a: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inevitable</a:t>
            </a: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 when working with citizen science data like ebird </a:t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Spatial CV would improve AUC estimates by ensuring they are more </a:t>
            </a: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conservative</a:t>
            </a: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Expanding to other migratory shorebird species (such as </a:t>
            </a:r>
            <a:r>
              <a:rPr lang="en" sz="1400">
                <a:latin typeface="Merriweather"/>
                <a:ea typeface="Merriweather"/>
                <a:cs typeface="Merriweather"/>
                <a:sym typeface="Merriweather"/>
              </a:rPr>
              <a:t>piping plovers, american oystercatchers, etc) </a:t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4"/>
          <p:cNvSpPr txBox="1"/>
          <p:nvPr>
            <p:ph type="title"/>
          </p:nvPr>
        </p:nvSpPr>
        <p:spPr>
          <a:xfrm>
            <a:off x="2996100" y="1755300"/>
            <a:ext cx="3151800" cy="163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50"/>
              <a:t>Thank you!</a:t>
            </a:r>
            <a:endParaRPr sz="41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510" name="Google Shape;510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64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